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542" y="1872555"/>
            <a:ext cx="54689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GUILD PROTOCOL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00500" y="2710755"/>
            <a:ext cx="1143000" cy="38100"/>
          </a:xfrm>
          <a:prstGeom prst="rect">
            <a:avLst/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41573" y="2977455"/>
            <a:ext cx="426085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Protocol for Outcome-Based Work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922428" y="4665464"/>
            <a:ext cx="12991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Q1 2026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720030"/>
            <a:ext cx="8209598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staffing industry extracts </a:t>
            </a:r>
            <a:pPr algn="l" indent="0" marL="0">
              <a:lnSpc>
                <a:spcPts val="3622"/>
              </a:lnSpc>
              <a:buNone/>
            </a:pPr>
            <a:r>
              <a:rPr lang="en-US" sz="3150" b="1" dirty="0">
                <a:solidFill>
                  <a:srgbClr val="E85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$100B+ annually</a:t>
            </a:r>
            <a:pPr algn="l" indent="0" marL="0">
              <a:lnSpc>
                <a:spcPts val="3622"/>
              </a:lnSpc>
              <a:buNone/>
            </a:pPr>
            <a:r>
              <a:rPr lang="en-US" sz="315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sitting between workers and companies.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81000" y="3577679"/>
            <a:ext cx="2590800" cy="1261021"/>
          </a:xfrm>
          <a:prstGeom prst="roundRect">
            <a:avLst>
              <a:gd name="adj" fmla="val 604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3577679"/>
            <a:ext cx="0" cy="1261021"/>
          </a:xfrm>
          <a:prstGeom prst="line">
            <a:avLst/>
          </a:prstGeom>
          <a:noFill/>
          <a:ln w="38100">
            <a:solidFill>
              <a:srgbClr val="E85D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3806279"/>
            <a:ext cx="21374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35-50%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" y="4423470"/>
            <a:ext cx="21374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agency markup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3577679"/>
            <a:ext cx="2590800" cy="1261021"/>
          </a:xfrm>
          <a:prstGeom prst="roundRect">
            <a:avLst>
              <a:gd name="adj" fmla="val 604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5650" y="3577679"/>
            <a:ext cx="0" cy="126102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3300" y="3806279"/>
            <a:ext cx="21374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$184B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43300" y="4423470"/>
            <a:ext cx="21374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staffing market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72200" y="3577679"/>
            <a:ext cx="2590800" cy="1261021"/>
          </a:xfrm>
          <a:prstGeom prst="roundRect">
            <a:avLst>
              <a:gd name="adj" fmla="val 604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91250" y="3577679"/>
            <a:ext cx="0" cy="1261021"/>
          </a:xfrm>
          <a:prstGeom prst="line">
            <a:avLst/>
          </a:prstGeom>
          <a:noFill/>
          <a:ln w="381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8900" y="3806279"/>
            <a:ext cx="21374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38900" y="4423470"/>
            <a:ext cx="21374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68834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OPACITY TAX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084064"/>
            <a:ext cx="54601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extraction is enabled by secrecy.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93689"/>
            <a:ext cx="4067175" cy="2571452"/>
          </a:xfrm>
          <a:prstGeom prst="roundRect">
            <a:avLst>
              <a:gd name="adj" fmla="val 296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122289"/>
            <a:ext cx="3682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TEKSYSTEMS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9600" y="3033712"/>
            <a:ext cx="3609975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714625"/>
            <a:ext cx="672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pays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85729" y="2701379"/>
            <a:ext cx="5445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$150/hr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3637508"/>
            <a:ext cx="3609975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3318421"/>
            <a:ext cx="9802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receives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70561" y="3305175"/>
            <a:ext cx="4579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$85/hr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922216"/>
            <a:ext cx="6199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21695" y="3908971"/>
            <a:ext cx="9158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$65/hr (43%)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6775" y="1884164"/>
            <a:ext cx="4086225" cy="2590502"/>
          </a:xfrm>
          <a:prstGeom prst="roundRect">
            <a:avLst>
              <a:gd name="adj" fmla="val 2942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4900" y="2122289"/>
            <a:ext cx="3682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 PROTOCOL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14900" y="3033712"/>
            <a:ext cx="3609975" cy="0"/>
          </a:xfrm>
          <a:prstGeom prst="line">
            <a:avLst/>
          </a:prstGeom>
          <a:noFill/>
          <a:ln w="9525">
            <a:solidFill>
              <a:srgbClr val="1A3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4900" y="2714625"/>
            <a:ext cx="672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pays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91029" y="2701379"/>
            <a:ext cx="5445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$130/hr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14900" y="3637508"/>
            <a:ext cx="3609975" cy="0"/>
          </a:xfrm>
          <a:prstGeom prst="line">
            <a:avLst/>
          </a:prstGeom>
          <a:noFill/>
          <a:ln w="9525">
            <a:solidFill>
              <a:srgbClr val="1A3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900" y="3318421"/>
            <a:ext cx="9802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receives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91029" y="3305175"/>
            <a:ext cx="54452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$120/hr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4900" y="3922216"/>
            <a:ext cx="7861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11678" y="3908971"/>
            <a:ext cx="82946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$10/hr (8%)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70246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117699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forces converging.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796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6193" y="1938784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200" y="1879699"/>
            <a:ext cx="46915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changes team economics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112020"/>
            <a:ext cx="46915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 with AI leverage outperform large teams. "Bodies = revenue" is broken.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41860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6193" y="247769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200" y="2418606"/>
            <a:ext cx="43643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 tech workers displaced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2650927"/>
            <a:ext cx="43643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2023-2025 layoffs. Senior talent, verified track records, frustrated with options.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29575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6193" y="301659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8200" y="2957513"/>
            <a:ext cx="41353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is 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8200" y="3189833"/>
            <a:ext cx="4135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collaboration is no longer experimental. Geography is optional.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81000" y="349641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193" y="3555504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8200" y="3496419"/>
            <a:ext cx="43672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expectations rising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200" y="3728740"/>
            <a:ext cx="43672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transparency laws spreading. Workers expect to know what they're worth.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81000" y="40353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6193" y="409441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A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8200" y="4035326"/>
            <a:ext cx="52654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platforms decaying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200" y="4267646"/>
            <a:ext cx="5265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Upwork: 10-15% fees, locks reputation. LinkedIn: 27% ghost jobs. Opportunity for alternatives.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62285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077516"/>
            <a:ext cx="63830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open protocol for outcome-based work.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687116"/>
            <a:ext cx="68008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0"/>
              </a:spcAft>
              <a:buNone/>
            </a:pPr>
            <a:r>
              <a:rPr lang="en-US" sz="12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economics. Portable reputation. Binary outcomes.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444204"/>
            <a:ext cx="1952625" cy="1950244"/>
          </a:xfrm>
          <a:prstGeom prst="roundRect">
            <a:avLst>
              <a:gd name="adj" fmla="val 390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634704"/>
            <a:ext cx="16030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71500" y="3274665"/>
            <a:ext cx="1603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Protocol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3684240"/>
            <a:ext cx="1603058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standard is open source. Anyone can build on it. Workers own their data.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524125" y="2357586"/>
            <a:ext cx="1952625" cy="2123480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14625" y="2548086"/>
            <a:ext cx="16030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14625" y="3188047"/>
            <a:ext cx="1603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714625" y="3597622"/>
            <a:ext cx="160305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Quests have acceptance criteria. Success is binary. No timesheets, no activity theater.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67250" y="2357586"/>
            <a:ext cx="1952625" cy="2123480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0" y="2548086"/>
            <a:ext cx="16030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57750" y="3188047"/>
            <a:ext cx="1603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Ratings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857750" y="3597622"/>
            <a:ext cx="160305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earned through outcomes. Like chess ratings — transparent, mathematical, fair.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10375" y="2444204"/>
            <a:ext cx="1952625" cy="1950244"/>
          </a:xfrm>
          <a:prstGeom prst="roundRect">
            <a:avLst>
              <a:gd name="adj" fmla="val 390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00875" y="2634704"/>
            <a:ext cx="160305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00875" y="3274665"/>
            <a:ext cx="1603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000875" y="3684240"/>
            <a:ext cx="1603058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reputation is yours. Take it anywhere. No platform lock-in.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038374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1453604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30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 Lifecycle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362200"/>
            <a:ext cx="1341090" cy="963811"/>
          </a:xfrm>
          <a:prstGeom prst="roundRect">
            <a:avLst>
              <a:gd name="adj" fmla="val 7906"/>
            </a:avLst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037" y="2552700"/>
            <a:ext cx="10570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3037" y="2948880"/>
            <a:ext cx="10570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Posted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7589" y="3592711"/>
            <a:ext cx="1367912" cy="479971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defines outcome, acceptance criteria, budget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36390" y="2329904"/>
            <a:ext cx="19431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1190" y="2343150"/>
            <a:ext cx="1341090" cy="1001911"/>
          </a:xfrm>
          <a:prstGeom prst="roundRect">
            <a:avLst>
              <a:gd name="adj" fmla="val 7605"/>
            </a:avLst>
          </a:prstGeom>
          <a:solidFill>
            <a:srgbClr val="1A233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2658" y="2552700"/>
            <a:ext cx="10181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02658" y="2948880"/>
            <a:ext cx="10181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Matched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27779" y="3611761"/>
            <a:ext cx="1367912" cy="479971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matches based on Elo, skills, history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96580" y="2329904"/>
            <a:ext cx="19431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01380" y="2329904"/>
            <a:ext cx="1341090" cy="1188541"/>
          </a:xfrm>
          <a:prstGeom prst="roundRect">
            <a:avLst>
              <a:gd name="adj" fmla="val 6411"/>
            </a:avLst>
          </a:prstGeom>
          <a:solidFill>
            <a:srgbClr val="1A233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62849" y="2539454"/>
            <a:ext cx="10181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2849" y="2935635"/>
            <a:ext cx="101815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Escrowed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7970" y="3785146"/>
            <a:ext cx="1367912" cy="31998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locked until milestones met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6771" y="2329904"/>
            <a:ext cx="19431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1571" y="2329904"/>
            <a:ext cx="1341090" cy="1188541"/>
          </a:xfrm>
          <a:prstGeom prst="roundRect">
            <a:avLst>
              <a:gd name="adj" fmla="val 6411"/>
            </a:avLst>
          </a:prstGeom>
          <a:solidFill>
            <a:srgbClr val="1A233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23039" y="2539454"/>
            <a:ext cx="10181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23039" y="2935635"/>
            <a:ext cx="101815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Verified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48160" y="3785146"/>
            <a:ext cx="1367912" cy="31998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criteria met or not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6961" y="2329904"/>
            <a:ext cx="194310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21761" y="2329904"/>
            <a:ext cx="1341090" cy="1188541"/>
          </a:xfrm>
          <a:prstGeom prst="roundRect">
            <a:avLst>
              <a:gd name="adj" fmla="val 6411"/>
            </a:avLst>
          </a:prstGeom>
          <a:solidFill>
            <a:srgbClr val="0D292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83229" y="2539454"/>
            <a:ext cx="10181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3229" y="2935635"/>
            <a:ext cx="101815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Accrues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8350" y="3785146"/>
            <a:ext cx="1367912" cy="31998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updated. Portable. Yours forever.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76550" y="4252168"/>
            <a:ext cx="85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TYPES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326928" y="4589264"/>
            <a:ext cx="19725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→ Party → Raid → Campaign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566023" y="4252168"/>
            <a:ext cx="4109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18000" y="4589264"/>
            <a:ext cx="21410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· Specialist · Architect · Lead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7089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RATING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886123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Elo for knowledge work.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457623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matter. Activity doesn't. The math reveals who delivers.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399407"/>
            <a:ext cx="45362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839343"/>
            <a:ext cx="93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7425" y="2839343"/>
            <a:ext cx="29635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outcome is binary: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166914"/>
            <a:ext cx="93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7425" y="3166914"/>
            <a:ext cx="28859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adjusts based on quest difficulty and role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494484"/>
            <a:ext cx="93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7425" y="3494484"/>
            <a:ext cx="221908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quests = bigger rating swings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822055"/>
            <a:ext cx="93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425" y="3822055"/>
            <a:ext cx="26761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time, rating converges to true skill level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4149626"/>
            <a:ext cx="93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7425" y="4149626"/>
            <a:ext cx="3008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subjective reviews. No politics. Just outcomes.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56882" y="2089993"/>
            <a:ext cx="37802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ELO BEATS ALTERNATIVES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056882" y="2529929"/>
            <a:ext cx="3706118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90232" y="2625179"/>
            <a:ext cx="6389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640860" y="2625179"/>
            <a:ext cx="2028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talent, admits non-performers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056882" y="2969865"/>
            <a:ext cx="3706118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90232" y="3065115"/>
            <a:ext cx="5686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895505" y="3065115"/>
            <a:ext cx="17688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interview skill, not job skill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056882" y="3409801"/>
            <a:ext cx="3706118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0232" y="3505051"/>
            <a:ext cx="6459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916043" y="3505051"/>
            <a:ext cx="17478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positive (selection bias)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056882" y="3849737"/>
            <a:ext cx="3706118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90232" y="3944987"/>
            <a:ext cx="4772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963817" y="3944987"/>
            <a:ext cx="16991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Subjective, gameable, political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056882" y="4289673"/>
            <a:ext cx="3706118" cy="382786"/>
          </a:xfrm>
          <a:prstGeom prst="roundRect">
            <a:avLst>
              <a:gd name="adj" fmla="val 14930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99757" y="4394448"/>
            <a:ext cx="1038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 on Outcomes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057727" y="4394448"/>
            <a:ext cx="15936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Converges to truth over time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0598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675829"/>
            <a:ext cx="5809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OSS first. Prove the model. Then scale.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247329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asking anyone to trust us. We're showing receipts.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966317"/>
            <a:ext cx="1952625" cy="1919585"/>
          </a:xfrm>
          <a:prstGeom prst="roundRect">
            <a:avLst>
              <a:gd name="adj" fmla="val 397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980605"/>
            <a:ext cx="1952625" cy="0"/>
          </a:xfrm>
          <a:prstGeom prst="line">
            <a:avLst/>
          </a:prstGeom>
          <a:noFill/>
          <a:ln w="28575">
            <a:solidFill>
              <a:srgbClr val="E85D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2185392"/>
            <a:ext cx="1603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2560588"/>
            <a:ext cx="1603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via Quests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002459"/>
            <a:ext cx="160305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 Protocol built using Guild Protocol. First workers = platform builders. Eat our own cooking.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524125" y="1879699"/>
            <a:ext cx="1952625" cy="2092821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25" y="1893987"/>
            <a:ext cx="1952625" cy="0"/>
          </a:xfrm>
          <a:prstGeom prst="line">
            <a:avLst/>
          </a:prstGeom>
          <a:noFill/>
          <a:ln w="28575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4625" y="2098774"/>
            <a:ext cx="1603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714625" y="2473970"/>
            <a:ext cx="1603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Contributions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4625" y="2915841"/>
            <a:ext cx="1603058" cy="86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PRs to real projects. Public git history = undeniable proof. Maintainers become advocates.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67250" y="1966317"/>
            <a:ext cx="1952625" cy="1919585"/>
          </a:xfrm>
          <a:prstGeom prst="roundRect">
            <a:avLst>
              <a:gd name="adj" fmla="val 3970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980605"/>
            <a:ext cx="1952625" cy="0"/>
          </a:xfrm>
          <a:prstGeom prst="line">
            <a:avLst/>
          </a:prstGeom>
          <a:noFill/>
          <a:ln w="28575">
            <a:solidFill>
              <a:srgbClr val="4EC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0" y="2185392"/>
            <a:ext cx="1603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57750" y="2560588"/>
            <a:ext cx="1603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Guild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7750" y="3002459"/>
            <a:ext cx="160305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verified workers. 20 organizations. First paid quests. Case studies for scale.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810375" y="2052935"/>
            <a:ext cx="1952625" cy="1746349"/>
          </a:xfrm>
          <a:prstGeom prst="roundRect">
            <a:avLst>
              <a:gd name="adj" fmla="val 4363"/>
            </a:avLst>
          </a:prstGeom>
          <a:solidFill>
            <a:srgbClr val="0D29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10375" y="2067223"/>
            <a:ext cx="1952625" cy="0"/>
          </a:xfrm>
          <a:prstGeom prst="line">
            <a:avLst/>
          </a:prstGeom>
          <a:noFill/>
          <a:ln w="28575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0875" y="2272010"/>
            <a:ext cx="1603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00875" y="2647206"/>
            <a:ext cx="1603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Protocol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00875" y="3089077"/>
            <a:ext cx="1603058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standard goes public. Anyone can build on it. Ecosystem grows.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381000" y="4391620"/>
            <a:ext cx="8382000" cy="491430"/>
          </a:xfrm>
          <a:prstGeom prst="roundRect">
            <a:avLst>
              <a:gd name="adj" fmla="val 15506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1500" y="4544020"/>
            <a:ext cx="2865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itself is open source from day one.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17655" y="4544020"/>
            <a:ext cx="18919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= Trust = Adoption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49771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965002"/>
            <a:ext cx="67134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teams. Outcome-native. Highest pain.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536502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400"/>
              </a:spcAft>
              <a:buNone/>
            </a:pPr>
            <a:r>
              <a:rPr lang="en-US" sz="12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where the model is obviously better. Expand from proof.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587972"/>
            <a:ext cx="41193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AI/ML FIRST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3066008"/>
            <a:ext cx="5829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$200+/hr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66800" y="3066008"/>
            <a:ext cx="31473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ML engineer rates — extraction is maximized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385989"/>
            <a:ext cx="5829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6800" y="3385989"/>
            <a:ext cx="33752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ships or it doesn't. Accuracy threshold met or not.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705969"/>
            <a:ext cx="5829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6800" y="3705969"/>
            <a:ext cx="30924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shortage acute. Agencies charging premium.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025950"/>
            <a:ext cx="8918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Sophisticated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69665" y="4025950"/>
            <a:ext cx="26863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understand value prop immediately.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0" y="2206972"/>
            <a:ext cx="41193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24400" y="2685008"/>
            <a:ext cx="4038600" cy="434280"/>
          </a:xfrm>
          <a:prstGeom prst="roundRect">
            <a:avLst>
              <a:gd name="adj" fmla="val 13160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2815530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572125" y="2808833"/>
            <a:ext cx="15071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engineering teams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4400" y="3195489"/>
            <a:ext cx="4038600" cy="415230"/>
          </a:xfrm>
          <a:prstGeom prst="roundRect">
            <a:avLst>
              <a:gd name="adj" fmla="val 1376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6800" y="3316486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562600" y="3309789"/>
            <a:ext cx="16936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design, data teams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4400" y="3686919"/>
            <a:ext cx="4038600" cy="415230"/>
          </a:xfrm>
          <a:prstGeom prst="roundRect">
            <a:avLst>
              <a:gd name="adj" fmla="val 1376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6800" y="3807916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562600" y="3801219"/>
            <a:ext cx="18750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project replacement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4400" y="4178350"/>
            <a:ext cx="4038600" cy="415230"/>
          </a:xfrm>
          <a:prstGeom prst="roundRect">
            <a:avLst>
              <a:gd name="adj" fmla="val 1376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6800" y="4299347"/>
            <a:ext cx="5829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4+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562600" y="4292650"/>
            <a:ext cx="13761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knowledge work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08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866031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is open. Platform monetizes.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86992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345978"/>
            <a:ext cx="4057650" cy="632371"/>
          </a:xfrm>
          <a:prstGeom prst="roundRect">
            <a:avLst>
              <a:gd name="adj" fmla="val 903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479328"/>
            <a:ext cx="14969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completion fee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685008"/>
            <a:ext cx="14969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revenue, paid by org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90652" y="2542133"/>
            <a:ext cx="5055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3073598"/>
            <a:ext cx="4057650" cy="632371"/>
          </a:xfrm>
          <a:prstGeom prst="roundRect">
            <a:avLst>
              <a:gd name="adj" fmla="val 903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3206948"/>
            <a:ext cx="1497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matching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3412629"/>
            <a:ext cx="1497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Expedited, curated assembly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28579" y="3269754"/>
            <a:ext cx="6708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$500-2K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3801219"/>
            <a:ext cx="4057650" cy="632371"/>
          </a:xfrm>
          <a:prstGeom prst="roundRect">
            <a:avLst>
              <a:gd name="adj" fmla="val 903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400" y="3934569"/>
            <a:ext cx="13609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" y="4140250"/>
            <a:ext cx="13609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support,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18731" y="3997375"/>
            <a:ext cx="88487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$25-50K/yr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5350" y="1628031"/>
            <a:ext cx="41388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05350" y="2087017"/>
            <a:ext cx="4057650" cy="1885652"/>
          </a:xfrm>
          <a:prstGeom prst="roundRect">
            <a:avLst>
              <a:gd name="adj" fmla="val 4041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857750" y="2507010"/>
            <a:ext cx="3752850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750" y="2246114"/>
            <a:ext cx="8965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quest value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128546" y="2239417"/>
            <a:ext cx="4916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57750" y="2855565"/>
            <a:ext cx="3752850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594670"/>
            <a:ext cx="9827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 (7%)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202662" y="2587972"/>
            <a:ext cx="4160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57750" y="3204121"/>
            <a:ext cx="3752850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2943225"/>
            <a:ext cx="7581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8343602" y="2936528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57750" y="3552676"/>
            <a:ext cx="3752850" cy="0"/>
          </a:xfrm>
          <a:prstGeom prst="line">
            <a:avLst/>
          </a:prstGeom>
          <a:noFill/>
          <a:ln w="9525">
            <a:solidFill>
              <a:srgbClr val="2D3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7750" y="3291780"/>
            <a:ext cx="26672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202662" y="3285083"/>
            <a:ext cx="4160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57750" y="3640336"/>
            <a:ext cx="519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343602" y="3633639"/>
            <a:ext cx="272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05350" y="4258419"/>
            <a:ext cx="4057650" cy="434280"/>
          </a:xfrm>
          <a:prstGeom prst="roundRect">
            <a:avLst>
              <a:gd name="adj" fmla="val 13160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88607" y="4401294"/>
            <a:ext cx="716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6179900" y="4391769"/>
            <a:ext cx="18104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~$25M annual quest volume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27286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400" y="842516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Openness is the moat.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3400" y="1571179"/>
            <a:ext cx="3914775" cy="1771055"/>
          </a:xfrm>
          <a:prstGeom prst="roundRect">
            <a:avLst>
              <a:gd name="adj" fmla="val 4303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3400" y="1585466"/>
            <a:ext cx="3914775" cy="0"/>
          </a:xfrm>
          <a:prstGeom prst="line">
            <a:avLst/>
          </a:prstGeom>
          <a:noFill/>
          <a:ln w="28575">
            <a:solidFill>
              <a:srgbClr val="E85D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1790254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PLATFORMS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23900" y="2230189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worry about lock-in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23900" y="2479625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can match features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23900" y="2729061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 = users trapped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3900" y="2978497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vs. incumbents alone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676775" y="1566416"/>
            <a:ext cx="3933825" cy="1780580"/>
          </a:xfrm>
          <a:prstGeom prst="roundRect">
            <a:avLst>
              <a:gd name="adj" fmla="val 4280"/>
            </a:avLst>
          </a:prstGeom>
          <a:solidFill>
            <a:srgbClr val="0D29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6775" y="1580704"/>
            <a:ext cx="3933825" cy="0"/>
          </a:xfrm>
          <a:prstGeom prst="line">
            <a:avLst/>
          </a:prstGeom>
          <a:noFill/>
          <a:ln w="28575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05837" y="1566416"/>
            <a:ext cx="0" cy="178058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6775" y="3342233"/>
            <a:ext cx="3933825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537" y="1566416"/>
            <a:ext cx="0" cy="178058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800" y="1785491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PROTOCOL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876800" y="2225427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trust they can leave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76800" y="2474863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can't match openness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76800" y="2724299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 = users choose to stay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76800" y="2973735"/>
            <a:ext cx="36044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+ ecosystem vs. incumbents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3689896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 PARALLEL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3986957"/>
            <a:ext cx="1928813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698" y="4101257"/>
            <a:ext cx="1734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protocol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30698" y="4419302"/>
            <a:ext cx="1734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576513" y="3986957"/>
            <a:ext cx="1928813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73810" y="4101257"/>
            <a:ext cx="1734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673810" y="4419302"/>
            <a:ext cx="1734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Monetizes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19625" y="3986957"/>
            <a:ext cx="1928813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16923" y="4101257"/>
            <a:ext cx="1734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16923" y="4419302"/>
            <a:ext cx="1734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662738" y="3977432"/>
            <a:ext cx="1947863" cy="738932"/>
          </a:xfrm>
          <a:prstGeom prst="roundRect">
            <a:avLst>
              <a:gd name="adj" fmla="val 7734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69560" y="4101257"/>
            <a:ext cx="1734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reputation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769560" y="4419302"/>
            <a:ext cx="17342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forever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58403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81000" y="941189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years inside the machine.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598414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IT FROM EVERY ANGLE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2006054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101304"/>
            <a:ext cx="763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84461" y="2101304"/>
            <a:ext cx="29135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through agencies — saw the markup firsthand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445990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541240"/>
            <a:ext cx="763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84461" y="2541240"/>
            <a:ext cx="21480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teams across 6 major enterprises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2885926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2981176"/>
            <a:ext cx="763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4461" y="2981176"/>
            <a:ext cx="27242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 layoffs hit the wrong people, repeatedly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1000" y="3325862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3421112"/>
            <a:ext cx="763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84461" y="3421112"/>
            <a:ext cx="27376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the system rewards optics over outcomes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86300" y="1588889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TO BOOTSTRAP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1996529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2091779"/>
            <a:ext cx="13199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relationships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363569" y="2091779"/>
            <a:ext cx="12914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· Samsung · Nike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86300" y="2436465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650" y="2531715"/>
            <a:ext cx="9128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companies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425779" y="2531715"/>
            <a:ext cx="12279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TIBCO · JFrog · SAS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86300" y="2876401"/>
            <a:ext cx="407670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9650" y="2971651"/>
            <a:ext cx="9124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community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494240" y="2971651"/>
            <a:ext cx="11581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connections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686300" y="3316337"/>
            <a:ext cx="4076700" cy="382786"/>
          </a:xfrm>
          <a:prstGeom prst="roundRect">
            <a:avLst>
              <a:gd name="adj" fmla="val 14930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9175" y="3421112"/>
            <a:ext cx="12991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guild pipeline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208937" y="3421112"/>
            <a:ext cx="1439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workers · 20+ orgs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81000" y="4042023"/>
            <a:ext cx="8382000" cy="466725"/>
          </a:xfrm>
          <a:prstGeom prst="roundRect">
            <a:avLst>
              <a:gd name="adj" fmla="val 16327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90" y="4175373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system doesn't measure outcomes. It measures optics. </a:t>
            </a:r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gap.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26988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81000" y="809774"/>
            <a:ext cx="56738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expertise meets trust infrastructure.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1438424"/>
            <a:ext cx="4076700" cy="1883718"/>
          </a:xfrm>
          <a:prstGeom prst="roundRect">
            <a:avLst>
              <a:gd name="adj" fmla="val 4045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628924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Name]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040285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Co-founder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248022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TPM / Program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69736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· Samsung · Nike · TIBCO · JFrog · SAS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297165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at scale. Deep enterprise network.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6300" y="1438424"/>
            <a:ext cx="4076700" cy="1883718"/>
          </a:xfrm>
          <a:prstGeom prst="roundRect">
            <a:avLst>
              <a:gd name="adj" fmla="val 4045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800" y="1628924"/>
            <a:ext cx="3769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[CTO Name]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76800" y="2040285"/>
            <a:ext cx="37696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Co-founder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76800" y="248022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6800" y="269736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76800" y="2971651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systems at marketplace scale. OSS contributor.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3665041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920282"/>
            <a:ext cx="2717750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0408" y="40345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0408" y="4352627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+ Marketplace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213050" y="3920282"/>
            <a:ext cx="2717750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2459" y="40345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302459" y="4352627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Privacy at Scale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45101" y="3920282"/>
            <a:ext cx="2717750" cy="719882"/>
          </a:xfrm>
          <a:prstGeom prst="roundRect">
            <a:avLst>
              <a:gd name="adj" fmla="val 79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4509" y="4034582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34509" y="4352627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post-close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74749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81000" y="757535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1800"/>
              </a:spcAft>
              <a:buNone/>
            </a:pPr>
            <a:r>
              <a:rPr lang="en-US" sz="285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$5M Seed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381000" y="1500485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1908125"/>
            <a:ext cx="405765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003375"/>
            <a:ext cx="14600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build (via quests)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961061" y="2003375"/>
            <a:ext cx="351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$2.0M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329011"/>
            <a:ext cx="405765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424261"/>
            <a:ext cx="8917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 incentives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961061" y="2424261"/>
            <a:ext cx="351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2749897"/>
            <a:ext cx="405765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2845147"/>
            <a:ext cx="12986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(core team)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961061" y="2845147"/>
            <a:ext cx="351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$1.0M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81000" y="3170783"/>
            <a:ext cx="4057650" cy="363736"/>
          </a:xfrm>
          <a:prstGeom prst="roundRect">
            <a:avLst>
              <a:gd name="adj" fmla="val 15712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3266033"/>
            <a:ext cx="874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+ reserve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961061" y="3266033"/>
            <a:ext cx="3511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$1.0M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81000" y="3782169"/>
            <a:ext cx="41388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$2M+ flows through the platform as quests.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05350" y="1800523"/>
            <a:ext cx="4138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MILESTONES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5350" y="2208163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11626" y="2208163"/>
            <a:ext cx="12882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+ platform live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05350" y="2457599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11626" y="2457599"/>
            <a:ext cx="21589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verified workers in founding guild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05350" y="2707035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911626" y="2707035"/>
            <a:ext cx="18222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organizations posted quests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705350" y="2956471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911626" y="2956471"/>
            <a:ext cx="17938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$10M+ quest volume completed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05350" y="3205907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911626" y="3205907"/>
            <a:ext cx="15693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 quest completion rate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705350" y="3455343"/>
            <a:ext cx="1132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911626" y="3455343"/>
            <a:ext cx="13689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path to $25M ARR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81000" y="4271665"/>
            <a:ext cx="8382000" cy="420886"/>
          </a:xfrm>
          <a:prstGeom prst="roundRect">
            <a:avLst>
              <a:gd name="adj" fmla="val 18105"/>
            </a:avLst>
          </a:prstGeom>
          <a:solidFill>
            <a:srgbClr val="0D29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1975" y="4395490"/>
            <a:ext cx="8564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trigger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722144" y="4395490"/>
            <a:ext cx="2917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18-24 · $30M+ quest volume · $15-25M raise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62000"/>
            <a:ext cx="6315075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8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staffing industry extracts $100B+.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71500" y="1604963"/>
            <a:ext cx="816102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2100"/>
              </a:spcAft>
              <a:buNone/>
            </a:pPr>
            <a:r>
              <a:rPr lang="en-US" sz="315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making it obsolete.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71500" y="2584103"/>
            <a:ext cx="952500" cy="38100"/>
          </a:xfrm>
          <a:prstGeom prst="rect">
            <a:avLst/>
          </a:prstGeom>
          <a:solidFill>
            <a:srgbClr val="E85D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003203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protocol. Outcome-based work. Portable reputation.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4238774"/>
            <a:ext cx="4006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4575870"/>
            <a:ext cx="4006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21457" y="4238774"/>
            <a:ext cx="9149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421457" y="4575870"/>
            <a:ext cx="9149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guildprotocol.io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75645" y="4238774"/>
            <a:ext cx="15197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775645" y="4575870"/>
            <a:ext cx="15197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github.com/guild-protocol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Guild Protocol - Seed Pitch</dc:title>
  <dc:subject>PptxGenJS Presentation</dc:subject>
  <dc:creator>Guild Protocol</dc:creator>
  <cp:lastModifiedBy>Guild Protocol</cp:lastModifiedBy>
  <cp:revision>1</cp:revision>
  <dcterms:created xsi:type="dcterms:W3CDTF">2026-01-12T01:30:41Z</dcterms:created>
  <dcterms:modified xsi:type="dcterms:W3CDTF">2026-01-12T01:30:41Z</dcterms:modified>
</cp:coreProperties>
</file>